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khady365.github.io/Khady-MbayeAfriTalent/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60000"/>
                <a:lumOff val="40000"/>
              </a:schemeClr>
            </a:gs>
            <a:gs pos="100000">
              <a:schemeClr val="bg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5223A2-AAE6-4B46-9512-009FF61E9F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i="0" dirty="0" err="1">
                <a:solidFill>
                  <a:srgbClr val="2563EB"/>
                </a:solidFill>
                <a:effectLst/>
                <a:latin typeface="Poppins" panose="00000500000000000000" pitchFamily="2" charset="0"/>
              </a:rPr>
              <a:t>Afri</a:t>
            </a:r>
            <a:r>
              <a:rPr lang="fr-FR" b="1" i="0" dirty="0" err="1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Talent</a:t>
            </a:r>
            <a:br>
              <a:rPr lang="fr-FR" b="1" i="0" dirty="0">
                <a:solidFill>
                  <a:srgbClr val="2563EB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FA5252-F6C1-45BA-A5B5-8F916416D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015060"/>
            <a:ext cx="8791575" cy="1655762"/>
          </a:xfrm>
        </p:spPr>
        <p:txBody>
          <a:bodyPr/>
          <a:lstStyle/>
          <a:p>
            <a:pPr algn="ctr"/>
            <a:r>
              <a:rPr lang="fr-FR" b="0" i="0" dirty="0">
                <a:solidFill>
                  <a:schemeClr val="tx1"/>
                </a:solidFill>
                <a:effectLst/>
                <a:latin typeface="Lato" panose="020F0502020204030203" pitchFamily="34" charset="0"/>
              </a:rPr>
              <a:t>Propulser le talent africain vers le numérique d'avenir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Vague 3">
            <a:extLst>
              <a:ext uri="{FF2B5EF4-FFF2-40B4-BE49-F238E27FC236}">
                <a16:creationId xmlns:a16="http://schemas.microsoft.com/office/drawing/2014/main" id="{5077D595-FBA5-4C5A-8B9E-932659048BAF}"/>
              </a:ext>
            </a:extLst>
          </p:cNvPr>
          <p:cNvSpPr/>
          <p:nvPr/>
        </p:nvSpPr>
        <p:spPr>
          <a:xfrm>
            <a:off x="1991360" y="3749199"/>
            <a:ext cx="9113520" cy="2682081"/>
          </a:xfrm>
          <a:prstGeom prst="wav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fr-FR" b="0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Présenté par : </a:t>
            </a:r>
            <a:r>
              <a:rPr lang="fr-FR" b="1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Khady </a:t>
            </a:r>
            <a:r>
              <a:rPr lang="fr-FR" b="1" dirty="0">
                <a:solidFill>
                  <a:srgbClr val="475569"/>
                </a:solidFill>
                <a:latin typeface="Lato" panose="020F0502020204030203" pitchFamily="34" charset="0"/>
              </a:rPr>
              <a:t>Seck </a:t>
            </a:r>
            <a:r>
              <a:rPr lang="fr-FR" b="1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MBAYE</a:t>
            </a:r>
          </a:p>
          <a:p>
            <a:pPr algn="ctr"/>
            <a:r>
              <a:rPr lang="fr-FR" b="0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Soutenance de Projet Web | Classe de IAGE</a:t>
            </a:r>
          </a:p>
          <a:p>
            <a:pPr algn="ctr"/>
            <a:r>
              <a:rPr lang="fr-FR" b="0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Année Universitaire : </a:t>
            </a:r>
            <a:r>
              <a:rPr lang="fr-FR" b="1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3080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E9B72-0BF7-451B-A251-72DE2BA7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Plan de Présentation</a:t>
            </a:r>
            <a:br>
              <a:rPr lang="fr-FR" dirty="0"/>
            </a:br>
            <a:endParaRPr lang="fr-FR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AE63B7E-7037-4BA6-8213-6DBF86B097F7}"/>
              </a:ext>
            </a:extLst>
          </p:cNvPr>
          <p:cNvSpPr/>
          <p:nvPr/>
        </p:nvSpPr>
        <p:spPr>
          <a:xfrm>
            <a:off x="1141413" y="1943100"/>
            <a:ext cx="3271520" cy="1742440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b="1" i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01. Concept &amp; Vision</a:t>
            </a:r>
          </a:p>
          <a:p>
            <a:pPr algn="l"/>
            <a:r>
              <a:rPr lang="fr-FR" b="0" i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Présentation globale du projet, contexte et public cible stratégique.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29C2E69-B1B0-4D4A-9B92-1D40B5354B5C}"/>
              </a:ext>
            </a:extLst>
          </p:cNvPr>
          <p:cNvSpPr/>
          <p:nvPr/>
        </p:nvSpPr>
        <p:spPr>
          <a:xfrm>
            <a:off x="4944585" y="1943100"/>
            <a:ext cx="3271520" cy="1742440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b="1" i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02. Charte Graphique</a:t>
            </a:r>
          </a:p>
          <a:p>
            <a:pPr algn="l"/>
            <a:r>
              <a:rPr lang="fr-FR" b="0" i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Identité visuelle moderne, harmonie bleu &amp; blanc et typographies.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090F2A9-19DC-4DAD-8981-09B84A3AF886}"/>
              </a:ext>
            </a:extLst>
          </p:cNvPr>
          <p:cNvSpPr/>
          <p:nvPr/>
        </p:nvSpPr>
        <p:spPr>
          <a:xfrm>
            <a:off x="1141413" y="4338320"/>
            <a:ext cx="3271519" cy="174244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b="1" i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04. Socle Technique</a:t>
            </a:r>
          </a:p>
          <a:p>
            <a:pPr algn="l"/>
            <a:r>
              <a:rPr lang="fr-FR" b="0" i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Logique de filtrage JavaScript, intégration Bootstrap 5 et CSS.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0AC6855-74D4-474C-9EAD-BC301B6AE584}"/>
              </a:ext>
            </a:extLst>
          </p:cNvPr>
          <p:cNvSpPr/>
          <p:nvPr/>
        </p:nvSpPr>
        <p:spPr>
          <a:xfrm>
            <a:off x="4944585" y="4338320"/>
            <a:ext cx="3271519" cy="1742440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b="1" i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05. Workflow Git</a:t>
            </a:r>
          </a:p>
          <a:p>
            <a:pPr algn="l"/>
            <a:r>
              <a:rPr lang="fr-FR" b="0" i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Gestion du versionnement GitHub et déploiement continu.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D609C24-7D50-4098-9976-470BE75E7CEC}"/>
              </a:ext>
            </a:extLst>
          </p:cNvPr>
          <p:cNvSpPr/>
          <p:nvPr/>
        </p:nvSpPr>
        <p:spPr>
          <a:xfrm>
            <a:off x="8575038" y="4338320"/>
            <a:ext cx="3271520" cy="1742440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b="1" i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06. Bilan &amp; Futur</a:t>
            </a:r>
          </a:p>
          <a:p>
            <a:pPr algn="l"/>
            <a:r>
              <a:rPr lang="fr-FR" b="0" i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Difficultés résolues, outils de référence et démonstration en direct.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C632587-1AAE-4D9E-8F9F-39A4FFCC691F}"/>
              </a:ext>
            </a:extLst>
          </p:cNvPr>
          <p:cNvSpPr/>
          <p:nvPr/>
        </p:nvSpPr>
        <p:spPr>
          <a:xfrm>
            <a:off x="8575038" y="1943100"/>
            <a:ext cx="3271520" cy="1742440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b="1" i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03. Structure &amp; UX</a:t>
            </a:r>
          </a:p>
          <a:p>
            <a:pPr algn="l"/>
            <a:r>
              <a:rPr lang="fr-FR" b="0" i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Arborescence générale, sitemap et parcours de navigation.</a:t>
            </a:r>
          </a:p>
        </p:txBody>
      </p:sp>
    </p:spTree>
    <p:extLst>
      <p:ext uri="{BB962C8B-B14F-4D97-AF65-F5344CB8AC3E}">
        <p14:creationId xmlns:p14="http://schemas.microsoft.com/office/powerpoint/2010/main" val="3175210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3BF14B-150F-411B-912A-C29D44E6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Présentation du Projet</a:t>
            </a:r>
            <a:b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DC74333A-B9E6-4DD4-AC1D-E5DD4744B6B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614" r="14614"/>
          <a:stretch>
            <a:fillRect/>
          </a:stretch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25AFC1-3DFD-473A-BB06-30AA37909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fr-FR" b="1" i="0" dirty="0">
                <a:solidFill>
                  <a:srgbClr val="2563EB"/>
                </a:solidFill>
                <a:effectLst/>
                <a:latin typeface="Poppins" panose="00000500000000000000" pitchFamily="2" charset="0"/>
              </a:rPr>
              <a:t>La Vitrine des Talents Numériques</a:t>
            </a:r>
          </a:p>
          <a:p>
            <a:pPr algn="l"/>
            <a:r>
              <a:rPr lang="fr-FR" sz="19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Le projet </a:t>
            </a:r>
            <a:r>
              <a:rPr lang="fr-FR" sz="1900" b="1" i="0" dirty="0" err="1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AfriTalent</a:t>
            </a:r>
            <a:r>
              <a:rPr lang="fr-FR" sz="1900" b="0" i="0" dirty="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fr-FR" sz="19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est né de la volonté de valoriser les profils de développeurs, designers et créateurs africains du secteur de la tech.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Contexte</a:t>
            </a:r>
            <a:r>
              <a:rPr lang="fr-FR" b="1" i="0" dirty="0">
                <a:effectLst/>
                <a:latin typeface="Lato" panose="020F0502020204030203" pitchFamily="34" charset="0"/>
              </a:rPr>
              <a:t> :</a:t>
            </a:r>
            <a:r>
              <a:rPr lang="fr-FR" b="0" i="0" dirty="0">
                <a:effectLst/>
                <a:latin typeface="Lato" panose="020F0502020204030203" pitchFamily="34" charset="0"/>
              </a:rPr>
              <a:t> </a:t>
            </a:r>
            <a:r>
              <a:rPr lang="fr-FR" sz="17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Un besoin croissant de connexions qualifiées entre les recruteurs internationaux et le dynamisme du continent.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200" b="1" i="0" dirty="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Objectif </a:t>
            </a:r>
            <a:r>
              <a:rPr lang="fr-FR" b="1" i="0" dirty="0">
                <a:effectLst/>
                <a:latin typeface="Lato" panose="020F0502020204030203" pitchFamily="34" charset="0"/>
              </a:rPr>
              <a:t>:</a:t>
            </a:r>
            <a:r>
              <a:rPr lang="fr-FR" b="0" i="0" dirty="0">
                <a:effectLst/>
                <a:latin typeface="Lato" panose="020F0502020204030203" pitchFamily="34" charset="0"/>
              </a:rPr>
              <a:t> </a:t>
            </a:r>
            <a:r>
              <a:rPr lang="fr-FR" sz="17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Offrir un annuaire épuré avec des filtres instantanés pour une recherche ultra-fluide.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200" b="1" i="0" dirty="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Cible </a:t>
            </a:r>
            <a:r>
              <a:rPr lang="fr-FR" b="1" i="0" dirty="0">
                <a:effectLst/>
                <a:latin typeface="Lato" panose="020F0502020204030203" pitchFamily="34" charset="0"/>
              </a:rPr>
              <a:t>:</a:t>
            </a:r>
            <a:r>
              <a:rPr lang="fr-FR" b="0" i="0" dirty="0">
                <a:effectLst/>
                <a:latin typeface="Lato" panose="020F0502020204030203" pitchFamily="34" charset="0"/>
              </a:rPr>
              <a:t> </a:t>
            </a:r>
            <a:r>
              <a:rPr lang="fr-FR" sz="17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Entreprises locales, recruteurs internationaux et jeunes diplômés de la tech.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4327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A31DF9-80E4-47E3-94C8-BFF3034E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Identité Visuelle : Palette</a:t>
            </a:r>
            <a:b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1244AB-F364-4EDB-B9B8-2B7C4015D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9914" y="4145280"/>
            <a:ext cx="9905955" cy="2103119"/>
          </a:xfrm>
        </p:spPr>
        <p:txBody>
          <a:bodyPr>
            <a:normAutofit/>
          </a:bodyPr>
          <a:lstStyle/>
          <a:p>
            <a:pPr algn="l"/>
            <a:r>
              <a:rPr lang="fr-FR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Règle d'équilibre visuel</a:t>
            </a:r>
          </a:p>
          <a:p>
            <a:pPr algn="l"/>
            <a:r>
              <a:rPr lang="fr-FR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60% de Blanc Lumineux pour un rendu épuré, 30% d'Ardoise Profond pour la lisibilité typographique et 10% d'accents bleus dynamiques.</a:t>
            </a:r>
          </a:p>
          <a:p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D00F2D7-D5AD-44AD-83C0-4A779416392A}"/>
              </a:ext>
            </a:extLst>
          </p:cNvPr>
          <p:cNvSpPr/>
          <p:nvPr/>
        </p:nvSpPr>
        <p:spPr>
          <a:xfrm>
            <a:off x="1349245" y="2664823"/>
            <a:ext cx="1872339" cy="1201782"/>
          </a:xfrm>
          <a:prstGeom prst="roundRect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b="1" i="0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Bleu Royal</a:t>
            </a:r>
          </a:p>
          <a:p>
            <a:r>
              <a:rPr lang="fr-FR" sz="1200" b="1" i="0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2563EB</a:t>
            </a:r>
            <a:endParaRPr lang="fr-FR" sz="1200" dirty="0">
              <a:solidFill>
                <a:schemeClr val="tx2">
                  <a:lumMod val="40000"/>
                  <a:lumOff val="60000"/>
                </a:schemeClr>
              </a:solidFill>
              <a:highlight>
                <a:srgbClr val="0000FF"/>
              </a:highlight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079A42B-E2C2-4237-BDF8-4A303362F04A}"/>
              </a:ext>
            </a:extLst>
          </p:cNvPr>
          <p:cNvSpPr/>
          <p:nvPr/>
        </p:nvSpPr>
        <p:spPr>
          <a:xfrm>
            <a:off x="3711283" y="2664823"/>
            <a:ext cx="1628504" cy="1201782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b="1" i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Bleu Ciel #38BDF8</a:t>
            </a:r>
            <a:endParaRPr lang="fr-FR" sz="1200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F6D5943-7298-4BA7-87AF-2C075CCC5F52}"/>
              </a:ext>
            </a:extLst>
          </p:cNvPr>
          <p:cNvSpPr/>
          <p:nvPr/>
        </p:nvSpPr>
        <p:spPr>
          <a:xfrm>
            <a:off x="5829487" y="2664823"/>
            <a:ext cx="1628503" cy="120178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b="1" i="0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Ardoise Profond</a:t>
            </a:r>
          </a:p>
          <a:p>
            <a:r>
              <a:rPr lang="fr-FR" sz="1200" b="1" i="0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#0F172A</a:t>
            </a:r>
            <a:endParaRPr lang="fr-FR" sz="1200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767547C-F868-42D0-9905-5C58F9F021D7}"/>
              </a:ext>
            </a:extLst>
          </p:cNvPr>
          <p:cNvSpPr/>
          <p:nvPr/>
        </p:nvSpPr>
        <p:spPr>
          <a:xfrm>
            <a:off x="8055429" y="2664823"/>
            <a:ext cx="1628504" cy="1201782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Blanc Pur (Fond)</a:t>
            </a:r>
          </a:p>
          <a:p>
            <a:pPr algn="ctr"/>
            <a:r>
              <a:rPr lang="fr-FR" sz="1200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#FFFFFF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4110590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3953E-7CA2-48D4-8A52-3B2983E51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14" y="609600"/>
            <a:ext cx="9905955" cy="3429000"/>
          </a:xfrm>
        </p:spPr>
        <p:txBody>
          <a:bodyPr/>
          <a:lstStyle/>
          <a:p>
            <a:pPr algn="ctr"/>
            <a: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Typographies &amp; Inspirations</a:t>
            </a:r>
            <a:b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F47A63-565A-411D-9734-2FB00FF66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2000" y="3429000"/>
            <a:ext cx="2595155" cy="2092234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B0DAC5E-086C-49DD-8C26-A03567207AE2}"/>
              </a:ext>
            </a:extLst>
          </p:cNvPr>
          <p:cNvSpPr/>
          <p:nvPr/>
        </p:nvSpPr>
        <p:spPr>
          <a:xfrm>
            <a:off x="792002" y="3350621"/>
            <a:ext cx="2595154" cy="2170613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fr-FR" b="1" i="0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r>
              <a:rPr lang="fr-F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Times New Roman</a:t>
            </a:r>
          </a:p>
          <a:p>
            <a:pPr algn="l"/>
            <a:r>
              <a:rPr lang="fr-FR" sz="1600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Une police géométrique moderne sans empattement. Elle capte l'œil et confère une structure nette et numérique aux en-têtes. 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E9980B9-7F19-40A0-A800-E0735E7D8C2F}"/>
              </a:ext>
            </a:extLst>
          </p:cNvPr>
          <p:cNvSpPr/>
          <p:nvPr/>
        </p:nvSpPr>
        <p:spPr>
          <a:xfrm>
            <a:off x="4426131" y="3350622"/>
            <a:ext cx="2503235" cy="2170612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Times</a:t>
            </a:r>
          </a:p>
          <a:p>
            <a:pPr algn="l"/>
            <a:r>
              <a:rPr lang="fr-FR" sz="1600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Chaleureuse et d'une grande clarté. Sa neutralité stylistique favorise une excellente lisibilité, y compris sur de petits affichages mobiles.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C7D2B75-AD07-4802-87C8-30F1F9C32212}"/>
              </a:ext>
            </a:extLst>
          </p:cNvPr>
          <p:cNvSpPr/>
          <p:nvPr/>
        </p:nvSpPr>
        <p:spPr>
          <a:xfrm>
            <a:off x="7765870" y="3289659"/>
            <a:ext cx="2595154" cy="2170611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sz="1400" b="1" i="0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Minimalisme &amp; Clarté</a:t>
            </a:r>
          </a:p>
          <a:p>
            <a:pPr algn="l"/>
            <a:r>
              <a:rPr lang="fr-FR" sz="1600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L'interface évite les ombres lourdes au profit de bordures légères, d'espaces blancs aérés (</a:t>
            </a:r>
            <a:r>
              <a:rPr lang="fr-FR" sz="1600" b="0" i="0" dirty="0" err="1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Whitespace</a:t>
            </a:r>
            <a:r>
              <a:rPr lang="fr-FR" sz="1600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) et d'un esprit SaaS épuré.</a:t>
            </a:r>
          </a:p>
        </p:txBody>
      </p:sp>
    </p:spTree>
    <p:extLst>
      <p:ext uri="{BB962C8B-B14F-4D97-AF65-F5344CB8AC3E}">
        <p14:creationId xmlns:p14="http://schemas.microsoft.com/office/powerpoint/2010/main" val="389200844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B1D67B2-5363-4EDB-849B-5085B6E9FC9E}"/>
              </a:ext>
            </a:extLst>
          </p:cNvPr>
          <p:cNvSpPr txBox="1"/>
          <p:nvPr/>
        </p:nvSpPr>
        <p:spPr>
          <a:xfrm>
            <a:off x="-1561872" y="53150"/>
            <a:ext cx="124449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i="0" cap="all" dirty="0">
                <a:solidFill>
                  <a:schemeClr val="bg2"/>
                </a:solidFill>
                <a:effectLst/>
                <a:latin typeface="Poppins" panose="00000500000000000000" pitchFamily="2" charset="0"/>
              </a:rPr>
              <a:t>Architecture &amp; </a:t>
            </a:r>
            <a:r>
              <a:rPr lang="fr-FR" sz="3200" b="1" dirty="0">
                <a:solidFill>
                  <a:schemeClr val="bg2"/>
                </a:solidFill>
              </a:rPr>
              <a:t>Description</a:t>
            </a:r>
            <a:endParaRPr lang="fr-FR" sz="3200" b="1" i="0" cap="all" dirty="0">
              <a:solidFill>
                <a:schemeClr val="bg2"/>
              </a:solidFill>
              <a:effectLst/>
              <a:latin typeface="Poppins" panose="00000500000000000000" pitchFamily="2" charset="0"/>
            </a:endParaRPr>
          </a:p>
          <a:p>
            <a:pPr algn="ctr"/>
            <a:endParaRPr lang="fr-FR" sz="4000" b="1" i="0" cap="all" dirty="0">
              <a:solidFill>
                <a:srgbClr val="0F172A"/>
              </a:solidFill>
              <a:effectLst/>
              <a:latin typeface="Poppins" panose="00000500000000000000" pitchFamily="2" charset="0"/>
            </a:endParaRPr>
          </a:p>
          <a:p>
            <a:pPr algn="ctr"/>
            <a:r>
              <a:rPr lang="fr-FR" dirty="0"/>
              <a:t>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E947B8D-C21C-4646-A482-014484DACB14}"/>
              </a:ext>
            </a:extLst>
          </p:cNvPr>
          <p:cNvSpPr txBox="1"/>
          <p:nvPr/>
        </p:nvSpPr>
        <p:spPr>
          <a:xfrm>
            <a:off x="1646967" y="729986"/>
            <a:ext cx="48855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2"/>
                </a:solidFill>
              </a:rPr>
              <a:t>Le projet </a:t>
            </a:r>
            <a:r>
              <a:rPr lang="fr-FR" sz="2000" dirty="0" err="1">
                <a:solidFill>
                  <a:schemeClr val="bg2"/>
                </a:solidFill>
              </a:rPr>
              <a:t>AfriTalent</a:t>
            </a:r>
            <a:r>
              <a:rPr lang="fr-FR" sz="2000" dirty="0">
                <a:solidFill>
                  <a:schemeClr val="bg2"/>
                </a:solidFill>
              </a:rPr>
              <a:t> est organisé selon une structure claire séparant le contenu, le style, le comportement et les ressources.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0832FDF-7E88-4313-91A8-A60D31DD0176}"/>
              </a:ext>
            </a:extLst>
          </p:cNvPr>
          <p:cNvSpPr txBox="1"/>
          <p:nvPr/>
        </p:nvSpPr>
        <p:spPr>
          <a:xfrm>
            <a:off x="1333459" y="1745649"/>
            <a:ext cx="43542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NOM-</a:t>
            </a:r>
            <a:r>
              <a:rPr lang="fr-F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Prenom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-</a:t>
            </a:r>
            <a:r>
              <a:rPr lang="fr-F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AfriTalent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index.html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freelances.html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tarifs.html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about.html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contact.html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</a:t>
            </a:r>
            <a:r>
              <a:rPr lang="fr-F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css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│ └── style.css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</a:t>
            </a:r>
            <a:r>
              <a:rPr lang="fr-F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js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│ └── main.js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images/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│ └── (images, logos, avatars)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docs/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│ └── NOM_Prenom_Presentation.pptx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├── README.md</a:t>
            </a:r>
            <a:b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└── .</a:t>
            </a:r>
            <a:r>
              <a:rPr lang="fr-F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gitignore</a:t>
            </a:r>
            <a:endParaRPr lang="fr-FR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0D7F2C8-1144-4E20-A5B1-FBE98ACF6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386" y="53150"/>
            <a:ext cx="3907322" cy="199963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93774BD-6824-48C4-8D59-6A458521F440}"/>
              </a:ext>
            </a:extLst>
          </p:cNvPr>
          <p:cNvSpPr txBox="1"/>
          <p:nvPr/>
        </p:nvSpPr>
        <p:spPr>
          <a:xfrm>
            <a:off x="6679476" y="2059156"/>
            <a:ext cx="52160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index.html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page d'accueil du 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freelances.html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présentation des freelances et de leurs compétences.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tarifs.html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présentation des offres et tarifs.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about.html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informations sur le projet et son objectif.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contact.html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formulaire de contact avec validation JavaScript.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2"/>
                </a:solidFill>
              </a:rPr>
              <a:t>css</a:t>
            </a:r>
            <a:r>
              <a:rPr lang="fr-FR" dirty="0">
                <a:solidFill>
                  <a:schemeClr val="bg2"/>
                </a:solidFill>
              </a:rPr>
              <a:t>/style.css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feuille de style principale du projet.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2"/>
                </a:solidFill>
              </a:rPr>
              <a:t>js</a:t>
            </a:r>
            <a:r>
              <a:rPr lang="fr-FR" dirty="0">
                <a:solidFill>
                  <a:schemeClr val="bg2"/>
                </a:solidFill>
              </a:rPr>
              <a:t>/main.js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gestion des interactions (</a:t>
            </a:r>
            <a:r>
              <a:rPr lang="fr-F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dark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mode, animations, bouton retour en haut,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images/</a:t>
            </a:r>
            <a:r>
              <a:rPr lang="fr-FR" dirty="0"/>
              <a:t>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contient les illustrations et ressources graphiques.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docs/</a:t>
            </a:r>
            <a:r>
              <a:rPr lang="fr-FR" dirty="0"/>
              <a:t>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contient la présentation PowerPoint du projet.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README.md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documentation du projet.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2"/>
                </a:solidFill>
              </a:rPr>
              <a:t>.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gitignore</a:t>
            </a:r>
            <a:r>
              <a:rPr lang="fr-FR" dirty="0"/>
              <a:t> </a:t>
            </a:r>
            <a:r>
              <a:rPr lang="fr-F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exclusion des fichiers importants du dépôt Git.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0631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AE8F44E-FF21-448C-8811-CCF4A9E0E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89" y="1042038"/>
            <a:ext cx="3814354" cy="463595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F8ED33-DA61-4288-B74F-C2350D92012D}"/>
              </a:ext>
            </a:extLst>
          </p:cNvPr>
          <p:cNvSpPr txBox="1"/>
          <p:nvPr/>
        </p:nvSpPr>
        <p:spPr>
          <a:xfrm>
            <a:off x="5826036" y="1042038"/>
            <a:ext cx="51816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0" dirty="0">
                <a:solidFill>
                  <a:srgbClr val="2563EB"/>
                </a:solidFill>
                <a:effectLst/>
                <a:latin typeface="Poppins" panose="00000500000000000000" pitchFamily="2" charset="0"/>
              </a:rPr>
              <a:t>Intégration Mobile First</a:t>
            </a:r>
          </a:p>
          <a:p>
            <a:pPr algn="l"/>
            <a:r>
              <a:rPr lang="fr-FR" sz="24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Le site s'adapte à l'intégralité des formats d'écran grâce à une structure de grille souple et des éléments interactifs.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400" b="1" i="0" dirty="0">
                <a:solidFill>
                  <a:schemeClr val="bg2"/>
                </a:solidFill>
                <a:effectLst/>
                <a:latin typeface="Lato" panose="020F0502020204030203" pitchFamily="34" charset="0"/>
              </a:rPr>
              <a:t>Cartes de Profils </a:t>
            </a:r>
            <a:r>
              <a:rPr lang="fr-FR" sz="2400" b="1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:</a:t>
            </a:r>
            <a:r>
              <a:rPr lang="fr-FR" sz="24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 Flexibles et s'empilant de façon optimale sur les smartphones.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400" b="1" i="0" dirty="0">
                <a:solidFill>
                  <a:schemeClr val="bg2"/>
                </a:solidFill>
                <a:effectLst/>
                <a:latin typeface="Lato" panose="020F0502020204030203" pitchFamily="34" charset="0"/>
              </a:rPr>
              <a:t>Formulaire de Contact </a:t>
            </a:r>
            <a:r>
              <a:rPr lang="fr-FR" sz="2400" b="1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:</a:t>
            </a:r>
            <a:r>
              <a:rPr lang="fr-FR" sz="24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 Largeur fluide s'adaptant à l'écran tactile sans perte d'ergonomie.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400" b="1" i="0" dirty="0">
                <a:solidFill>
                  <a:schemeClr val="bg2"/>
                </a:solidFill>
                <a:effectLst/>
                <a:latin typeface="Lato" panose="020F0502020204030203" pitchFamily="34" charset="0"/>
              </a:rPr>
              <a:t>Barre de navigation </a:t>
            </a:r>
            <a:r>
              <a:rPr lang="fr-FR" sz="2400" b="1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:</a:t>
            </a:r>
            <a:r>
              <a:rPr lang="fr-FR" sz="24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 Menu épuré avec un effet de transition discret.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5250126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9E5425A-FAE3-4DDB-B112-67BDD91968AC}"/>
              </a:ext>
            </a:extLst>
          </p:cNvPr>
          <p:cNvSpPr txBox="1"/>
          <p:nvPr/>
        </p:nvSpPr>
        <p:spPr>
          <a:xfrm>
            <a:off x="1637211" y="339634"/>
            <a:ext cx="67926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Développement JavaScript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8CB7BD8-B378-4A30-B479-872CC11C1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03" y="1882072"/>
            <a:ext cx="5290892" cy="3441768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9BEB5724-F649-432A-840C-3E84B076A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1935928"/>
            <a:ext cx="5499898" cy="2836634"/>
          </a:xfrm>
          <a:prstGeom prst="rect">
            <a:avLst/>
          </a:prstGeom>
          <a:solidFill>
            <a:srgbClr val="FFFFFF"/>
          </a:solidFill>
          <a:ln w="9525">
            <a:solidFill>
              <a:srgbClr val="00B0F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rgbClr val="2563EB"/>
                </a:solidFill>
                <a:effectLst/>
                <a:latin typeface="Poppins" panose="00000500000000000000" pitchFamily="2" charset="0"/>
              </a:rPr>
              <a:t>Filtrage Dynamique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Utilisation des nouveautés de 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JavaScript Moderne (ES6+)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 pour manipuler l'affichage de manière asynchrone et instantanée sans rechargement.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Événements sur les boutons de catégorie.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Extraction des attributs personnalisés 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Arial Unicode MS"/>
              </a:rPr>
              <a:t>data-*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Transition fluide de visibilité en pure CSS.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76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6670769-7C60-4FE1-B522-0497F228D1A7}"/>
              </a:ext>
            </a:extLst>
          </p:cNvPr>
          <p:cNvSpPr txBox="1"/>
          <p:nvPr/>
        </p:nvSpPr>
        <p:spPr>
          <a:xfrm>
            <a:off x="1454330" y="505097"/>
            <a:ext cx="5399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Bootstrap 5 &amp; CSS Avancé</a:t>
            </a:r>
          </a:p>
          <a:p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84CF6BC-E035-4B0D-85D1-ADB50335EC81}"/>
              </a:ext>
            </a:extLst>
          </p:cNvPr>
          <p:cNvSpPr/>
          <p:nvPr/>
        </p:nvSpPr>
        <p:spPr>
          <a:xfrm>
            <a:off x="559529" y="2734491"/>
            <a:ext cx="3466012" cy="2011680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Grille Flexible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Exploitation du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systeme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collonnes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(row-cols-md-*)pour structure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automatiquement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la grille des talent.</a:t>
            </a:r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2334B55-43B9-41CD-BB25-360211A6E628}"/>
              </a:ext>
            </a:extLst>
          </p:cNvPr>
          <p:cNvSpPr/>
          <p:nvPr/>
        </p:nvSpPr>
        <p:spPr>
          <a:xfrm>
            <a:off x="4185559" y="2717074"/>
            <a:ext cx="3466012" cy="2011680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Variables Native CSS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Usage de Root pour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factoriser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les themes de couleur et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basculer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facilement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du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clair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au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sombre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fr-FR" dirty="0">
                <a:solidFill>
                  <a:schemeClr val="tx1">
                    <a:lumMod val="50000"/>
                  </a:schemeClr>
                </a:solidFill>
              </a:rPr>
              <a:t>à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l’aide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d’une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seul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classe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racine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.</a:t>
            </a:r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3DDBA14-F076-456E-96B1-BE3EA7255A3B}"/>
              </a:ext>
            </a:extLst>
          </p:cNvPr>
          <p:cNvSpPr/>
          <p:nvPr/>
        </p:nvSpPr>
        <p:spPr>
          <a:xfrm>
            <a:off x="7811590" y="2717074"/>
            <a:ext cx="3561803" cy="2011680"/>
          </a:xfrm>
          <a:prstGeom prst="roundRect">
            <a:avLst/>
          </a:prstGeom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Micro-Interactions</a:t>
            </a:r>
          </a:p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Effets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d’echelle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au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survol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des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cartes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transform:translateY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()) et transitions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soign</a:t>
            </a:r>
            <a:r>
              <a:rPr lang="fr-FR" dirty="0">
                <a:solidFill>
                  <a:schemeClr val="tx1">
                    <a:lumMod val="50000"/>
                  </a:schemeClr>
                </a:solidFill>
              </a:rPr>
              <a:t>é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es pour un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rendu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professionnel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.</a:t>
            </a:r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2698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B614F-5558-4D7D-8CDA-8501531D1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504" y="113420"/>
            <a:ext cx="9905998" cy="1478570"/>
          </a:xfrm>
        </p:spPr>
        <p:txBody>
          <a:bodyPr/>
          <a:lstStyle/>
          <a:p>
            <a:r>
              <a:rPr lang="fr-FR" sz="2400" b="1" i="0" cap="all" dirty="0" err="1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Versionnement</a:t>
            </a:r>
            <a:r>
              <a:rPr lang="fr-FR" sz="2400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 &amp; Hébergement</a:t>
            </a:r>
            <a:b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EC672B3-CB93-4ADB-A946-050251C60B61}"/>
              </a:ext>
            </a:extLst>
          </p:cNvPr>
          <p:cNvSpPr txBox="1"/>
          <p:nvPr/>
        </p:nvSpPr>
        <p:spPr>
          <a:xfrm>
            <a:off x="1437504" y="1123404"/>
            <a:ext cx="4197532" cy="4370427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l"/>
            <a:r>
              <a:rPr lang="fr-FR" sz="2000" b="1" i="0" dirty="0">
                <a:solidFill>
                  <a:srgbClr val="2563EB"/>
                </a:solidFill>
                <a:effectLst/>
                <a:latin typeface="Poppins" panose="00000500000000000000" pitchFamily="2" charset="0"/>
              </a:rPr>
              <a:t>Workflow de Développement</a:t>
            </a:r>
            <a:endParaRPr lang="fr-FR" b="1" i="0" dirty="0">
              <a:solidFill>
                <a:srgbClr val="2563EB"/>
              </a:solidFill>
              <a:effectLst/>
              <a:latin typeface="Poppins" panose="00000500000000000000" pitchFamily="2" charset="0"/>
            </a:endParaRPr>
          </a:p>
          <a:p>
            <a:pPr algn="l"/>
            <a:r>
              <a:rPr lang="fr-FR" sz="20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Afin de garantir un projet stable et un suivi rigoureux des fonctionnalités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Structure des </a:t>
            </a:r>
            <a:r>
              <a:rPr lang="fr-FR" sz="2000" b="1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Branches :</a:t>
            </a:r>
            <a:r>
              <a:rPr lang="fr-FR" sz="20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 Isolation des fonctionnalités (UI, Logique JS, Correctifs).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 err="1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Commits</a:t>
            </a:r>
            <a:r>
              <a:rPr lang="fr-FR" sz="2000" b="1" i="0" dirty="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 Sémantiques :</a:t>
            </a:r>
            <a:r>
              <a:rPr lang="fr-FR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fr-FR" sz="20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Messages structurés pour l'historique du projet.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Lien de Production </a:t>
            </a:r>
            <a:r>
              <a:rPr lang="fr-FR" sz="2000" b="1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:</a:t>
            </a:r>
            <a:r>
              <a:rPr lang="fr-FR" sz="20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Lato" panose="020F0502020204030203" pitchFamily="34" charset="0"/>
              </a:rPr>
              <a:t> Publication automatisée et hébergée via GitHub Pages.</a:t>
            </a:r>
          </a:p>
          <a:p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E62958E-30C9-4541-B12C-5DBFE14AA63A}"/>
              </a:ext>
            </a:extLst>
          </p:cNvPr>
          <p:cNvSpPr/>
          <p:nvPr/>
        </p:nvSpPr>
        <p:spPr>
          <a:xfrm>
            <a:off x="6783977" y="1262743"/>
            <a:ext cx="4380412" cy="3561806"/>
          </a:xfrm>
          <a:prstGeom prst="round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0" i="0" dirty="0">
                <a:solidFill>
                  <a:srgbClr val="6272A4"/>
                </a:solidFill>
                <a:effectLst/>
                <a:latin typeface="Fira Code" panose="020B0604020202020204" pitchFamily="49" charset="0"/>
              </a:rPr>
              <a:t># Envoi des modifications sur la branche de production</a:t>
            </a:r>
            <a:br>
              <a:rPr lang="fr-FR" dirty="0"/>
            </a:br>
            <a:r>
              <a:rPr lang="fr-FR" b="0" i="0" dirty="0">
                <a:solidFill>
                  <a:srgbClr val="E2E8F0"/>
                </a:solidFill>
                <a:effectLst/>
                <a:latin typeface="Fira Code" panose="020B0604020202020204" pitchFamily="49" charset="0"/>
              </a:rPr>
              <a:t>$ git </a:t>
            </a:r>
            <a:r>
              <a:rPr lang="fr-FR" b="0" i="0" dirty="0" err="1">
                <a:solidFill>
                  <a:srgbClr val="E2E8F0"/>
                </a:solidFill>
                <a:effectLst/>
                <a:latin typeface="Fira Code" panose="020B0604020202020204" pitchFamily="49" charset="0"/>
              </a:rPr>
              <a:t>add</a:t>
            </a:r>
            <a:r>
              <a:rPr lang="fr-FR" b="0" i="0" dirty="0">
                <a:solidFill>
                  <a:srgbClr val="E2E8F0"/>
                </a:solidFill>
                <a:effectLst/>
                <a:latin typeface="Fira Code" panose="020B0604020202020204" pitchFamily="49" charset="0"/>
              </a:rPr>
              <a:t> .</a:t>
            </a:r>
            <a:br>
              <a:rPr lang="fr-FR" dirty="0"/>
            </a:br>
            <a:r>
              <a:rPr lang="fr-FR" b="0" i="0" dirty="0">
                <a:solidFill>
                  <a:srgbClr val="E2E8F0"/>
                </a:solidFill>
                <a:effectLst/>
                <a:latin typeface="Fira Code" panose="020B0604020202020204" pitchFamily="49" charset="0"/>
              </a:rPr>
              <a:t>$ git commit -m </a:t>
            </a:r>
            <a:r>
              <a:rPr lang="fr-FR" b="0" i="0" dirty="0">
                <a:solidFill>
                  <a:srgbClr val="F1FA8C"/>
                </a:solidFill>
                <a:effectLst/>
                <a:latin typeface="Fira Code" panose="020B0604020202020204" pitchFamily="49" charset="0"/>
              </a:rPr>
              <a:t>"feat: implémentation du filtre JS des profils"</a:t>
            </a:r>
            <a:br>
              <a:rPr lang="fr-FR" dirty="0"/>
            </a:br>
            <a:r>
              <a:rPr lang="fr-FR" b="0" i="0" dirty="0">
                <a:solidFill>
                  <a:srgbClr val="E2E8F0"/>
                </a:solidFill>
                <a:effectLst/>
                <a:latin typeface="Fira Code" panose="020B0604020202020204" pitchFamily="49" charset="0"/>
              </a:rPr>
              <a:t>$ git push </a:t>
            </a:r>
            <a:r>
              <a:rPr lang="fr-FR" b="0" i="0" dirty="0" err="1">
                <a:solidFill>
                  <a:srgbClr val="E2E8F0"/>
                </a:solidFill>
                <a:effectLst/>
                <a:latin typeface="Fira Code" panose="020B0604020202020204" pitchFamily="49" charset="0"/>
              </a:rPr>
              <a:t>origin</a:t>
            </a:r>
            <a:r>
              <a:rPr lang="fr-FR" b="0" i="0" dirty="0">
                <a:solidFill>
                  <a:srgbClr val="E2E8F0"/>
                </a:solidFill>
                <a:effectLst/>
                <a:latin typeface="Fira Code" panose="020B0604020202020204" pitchFamily="49" charset="0"/>
              </a:rPr>
              <a:t> main</a:t>
            </a:r>
            <a:br>
              <a:rPr lang="fr-FR" dirty="0"/>
            </a:br>
            <a:br>
              <a:rPr lang="fr-FR" dirty="0"/>
            </a:br>
            <a:r>
              <a:rPr lang="fr-FR" b="0" i="0" dirty="0">
                <a:solidFill>
                  <a:srgbClr val="6272A4"/>
                </a:solidFill>
                <a:effectLst/>
                <a:latin typeface="Fira Code" panose="020B0604020202020204" pitchFamily="49" charset="0"/>
              </a:rPr>
              <a:t># Lien du projet hébergé :</a:t>
            </a:r>
            <a:br>
              <a:rPr lang="fr-FR" dirty="0"/>
            </a:br>
            <a:r>
              <a:rPr lang="fr-FR" b="0" i="0" dirty="0">
                <a:solidFill>
                  <a:srgbClr val="50FA7B"/>
                </a:solidFill>
                <a:effectLst/>
                <a:latin typeface="Fira Code" panose="020B0604020202020204" pitchFamily="49" charset="0"/>
              </a:rPr>
              <a:t>https://khady365.github.io/Khady-MbayeAfriTalent/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3652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EC387B-C19F-44D6-9646-2AB1699A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Défis Techniques Résolus</a:t>
            </a:r>
            <a:b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C9C0BE3B-6B58-4B5E-B30B-1354B6FB1299}"/>
              </a:ext>
            </a:extLst>
          </p:cNvPr>
          <p:cNvSpPr/>
          <p:nvPr/>
        </p:nvSpPr>
        <p:spPr>
          <a:xfrm>
            <a:off x="1226457" y="2376714"/>
            <a:ext cx="3796937" cy="2751909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Poppins" panose="00000500000000000000" pitchFamily="2" charset="0"/>
              </a:rPr>
              <a:t>Défi 01 : Alignement </a:t>
            </a:r>
            <a:r>
              <a:rPr lang="fr-FR" b="1" i="0" dirty="0" err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Poppins" panose="00000500000000000000" pitchFamily="2" charset="0"/>
              </a:rPr>
              <a:t>Grid</a:t>
            </a:r>
            <a:endParaRPr lang="fr-FR" b="1" i="0" dirty="0">
              <a:solidFill>
                <a:schemeClr val="bg2">
                  <a:lumMod val="60000"/>
                  <a:lumOff val="40000"/>
                </a:schemeClr>
              </a:solidFill>
              <a:effectLst/>
              <a:latin typeface="Poppins" panose="00000500000000000000" pitchFamily="2" charset="0"/>
            </a:endParaRPr>
          </a:p>
          <a:p>
            <a:pPr algn="ctr"/>
            <a:r>
              <a:rPr lang="fr-FR" b="1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Difficulté :</a:t>
            </a:r>
            <a:r>
              <a:rPr lang="fr-FR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 Lors du filtrage de profils, les hauteurs asymétriques des cartes déstructuraient le positionnement des lignes Bootstrap.</a:t>
            </a:r>
          </a:p>
          <a:p>
            <a:pPr algn="ctr"/>
            <a:r>
              <a:rPr lang="fr-FR" b="1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Solution :</a:t>
            </a:r>
            <a:r>
              <a:rPr lang="fr-FR" b="0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 Application des classes Bootstrap  </a:t>
            </a:r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E5DE9A3-8E07-4881-A326-F15742A21CEB}"/>
              </a:ext>
            </a:extLst>
          </p:cNvPr>
          <p:cNvSpPr/>
          <p:nvPr/>
        </p:nvSpPr>
        <p:spPr>
          <a:xfrm>
            <a:off x="6577875" y="2376714"/>
            <a:ext cx="3796937" cy="2751909"/>
          </a:xfrm>
          <a:prstGeom prst="roundRect">
            <a:avLst/>
          </a:prstGeom>
          <a:solidFill>
            <a:schemeClr val="lt1"/>
          </a:solidFill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Poppins" panose="00000500000000000000" pitchFamily="2" charset="0"/>
              </a:rPr>
              <a:t>Défi 02 : Fluidité du DOM</a:t>
            </a:r>
          </a:p>
          <a:p>
            <a:pPr algn="ctr"/>
            <a:r>
              <a:rPr lang="fr-FR" b="1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Difficulté :</a:t>
            </a:r>
            <a:r>
              <a:rPr lang="fr-FR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 Le masquage brusque des éléments filtrés nuisait à l'expérience visuelle globale (effet de clignotement).</a:t>
            </a:r>
          </a:p>
          <a:p>
            <a:pPr algn="ctr"/>
            <a:r>
              <a:rPr lang="fr-FR" b="1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Solution :</a:t>
            </a:r>
            <a:r>
              <a:rPr lang="fr-FR" b="0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 Ajout d'une transition CSS sur l'opacité</a:t>
            </a:r>
            <a:endParaRPr lang="fr-FR" b="1" i="0" dirty="0">
              <a:solidFill>
                <a:srgbClr val="22C55E"/>
              </a:solidFill>
              <a:effectLst/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540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D1055F-3BE1-4035-BC76-0475328E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Ressources &amp; Documentation</a:t>
            </a:r>
            <a:b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7A72219-655C-4686-9EF4-4E1728B0B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523689"/>
              </p:ext>
            </p:extLst>
          </p:nvPr>
        </p:nvGraphicFramePr>
        <p:xfrm>
          <a:off x="1554480" y="1737361"/>
          <a:ext cx="9043413" cy="4161094"/>
        </p:xfrm>
        <a:graphic>
          <a:graphicData uri="http://schemas.openxmlformats.org/drawingml/2006/table">
            <a:tbl>
              <a:tblPr/>
              <a:tblGrid>
                <a:gridCol w="3014471">
                  <a:extLst>
                    <a:ext uri="{9D8B030D-6E8A-4147-A177-3AD203B41FA5}">
                      <a16:colId xmlns:a16="http://schemas.microsoft.com/office/drawing/2014/main" val="3172240518"/>
                    </a:ext>
                  </a:extLst>
                </a:gridCol>
                <a:gridCol w="3014471">
                  <a:extLst>
                    <a:ext uri="{9D8B030D-6E8A-4147-A177-3AD203B41FA5}">
                      <a16:colId xmlns:a16="http://schemas.microsoft.com/office/drawing/2014/main" val="2528918314"/>
                    </a:ext>
                  </a:extLst>
                </a:gridCol>
                <a:gridCol w="3014471">
                  <a:extLst>
                    <a:ext uri="{9D8B030D-6E8A-4147-A177-3AD203B41FA5}">
                      <a16:colId xmlns:a16="http://schemas.microsoft.com/office/drawing/2014/main" val="2013239331"/>
                    </a:ext>
                  </a:extLst>
                </a:gridCol>
              </a:tblGrid>
              <a:tr h="348378">
                <a:tc>
                  <a:txBody>
                    <a:bodyPr/>
                    <a:lstStyle/>
                    <a:p>
                      <a:pPr algn="l"/>
                      <a:r>
                        <a:rPr lang="fr-FR" sz="12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Outil / Ressource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Usage du Projet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Type de Support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429003"/>
                  </a:ext>
                </a:extLst>
              </a:tr>
              <a:tr h="953179">
                <a:tc>
                  <a:txBody>
                    <a:bodyPr/>
                    <a:lstStyle/>
                    <a:p>
                      <a:r>
                        <a:rPr lang="fr-FR" sz="1200" b="1">
                          <a:solidFill>
                            <a:srgbClr val="475569"/>
                          </a:solidFill>
                          <a:effectLst/>
                        </a:rPr>
                        <a:t>MDN Web Docs</a:t>
                      </a:r>
                      <a:endParaRPr lang="fr-FR" sz="1200">
                        <a:solidFill>
                          <a:srgbClr val="475569"/>
                        </a:solidFill>
                        <a:effectLst/>
                      </a:endParaRP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solidFill>
                            <a:srgbClr val="475569"/>
                          </a:solidFill>
                          <a:effectLst/>
                        </a:rPr>
                        <a:t>Vérification de la compatibilité des API DOM et structures ES6+.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solidFill>
                            <a:srgbClr val="475569"/>
                          </a:solidFill>
                          <a:effectLst/>
                        </a:rPr>
                        <a:t>Documentation officielle standard.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67354"/>
                  </a:ext>
                </a:extLst>
              </a:tr>
              <a:tr h="953179">
                <a:tc>
                  <a:txBody>
                    <a:bodyPr/>
                    <a:lstStyle/>
                    <a:p>
                      <a:r>
                        <a:rPr lang="fr-FR" sz="1200" b="1">
                          <a:solidFill>
                            <a:srgbClr val="475569"/>
                          </a:solidFill>
                          <a:effectLst/>
                        </a:rPr>
                        <a:t>GetBootstrap v5</a:t>
                      </a:r>
                      <a:endParaRPr lang="fr-FR" sz="1200">
                        <a:solidFill>
                          <a:srgbClr val="475569"/>
                        </a:solidFill>
                        <a:effectLst/>
                      </a:endParaRP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solidFill>
                            <a:srgbClr val="475569"/>
                          </a:solidFill>
                          <a:effectLst/>
                        </a:rPr>
                        <a:t>Génération de la Navbar, des cartes d'annuaire et des formulaires.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solidFill>
                            <a:srgbClr val="475569"/>
                          </a:solidFill>
                          <a:effectLst/>
                        </a:rPr>
                        <a:t>Framework CSS de référence.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170066"/>
                  </a:ext>
                </a:extLst>
              </a:tr>
              <a:tr h="953179">
                <a:tc>
                  <a:txBody>
                    <a:bodyPr/>
                    <a:lstStyle/>
                    <a:p>
                      <a:r>
                        <a:rPr lang="fr-FR" sz="1200" b="1">
                          <a:solidFill>
                            <a:srgbClr val="475569"/>
                          </a:solidFill>
                          <a:effectLst/>
                        </a:rPr>
                        <a:t>FontAwesome</a:t>
                      </a:r>
                      <a:endParaRPr lang="fr-FR" sz="1200">
                        <a:solidFill>
                          <a:srgbClr val="475569"/>
                        </a:solidFill>
                        <a:effectLst/>
                      </a:endParaRP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solidFill>
                            <a:srgbClr val="475569"/>
                          </a:solidFill>
                          <a:effectLst/>
                        </a:rPr>
                        <a:t>Intégration d'icônes épurées pour le sommaire et les fiches profils.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solidFill>
                            <a:srgbClr val="475569"/>
                          </a:solidFill>
                          <a:effectLst/>
                        </a:rPr>
                        <a:t>Bibliothèque d'assets vectoriels.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4660"/>
                  </a:ext>
                </a:extLst>
              </a:tr>
              <a:tr h="953179">
                <a:tc>
                  <a:txBody>
                    <a:bodyPr/>
                    <a:lstStyle/>
                    <a:p>
                      <a:r>
                        <a:rPr lang="fr-FR" sz="1200" b="1">
                          <a:solidFill>
                            <a:srgbClr val="475569"/>
                          </a:solidFill>
                          <a:effectLst/>
                        </a:rPr>
                        <a:t>Google Fonts</a:t>
                      </a:r>
                      <a:endParaRPr lang="fr-FR" sz="1200">
                        <a:solidFill>
                          <a:srgbClr val="475569"/>
                        </a:solidFill>
                        <a:effectLst/>
                      </a:endParaRP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solidFill>
                            <a:srgbClr val="475569"/>
                          </a:solidFill>
                          <a:effectLst/>
                        </a:rPr>
                        <a:t>Chargement asynchrone des polices Poppins et Lato pour le rendu.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475569"/>
                          </a:solidFill>
                          <a:effectLst/>
                        </a:rPr>
                        <a:t>Service cloud de typographies.</a:t>
                      </a:r>
                    </a:p>
                  </a:txBody>
                  <a:tcPr marL="83217" marR="83217" marT="66574" marB="6657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989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5613FAC-CAA1-4B53-82DB-B5DCAE62113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956269" y="1025317"/>
            <a:ext cx="228437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356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14BDC-61A1-4208-8943-472261CF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Démonstration du Site</a:t>
            </a:r>
            <a:b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1E7C4C-7542-4F5F-BFBC-6189692261D2}"/>
              </a:ext>
            </a:extLst>
          </p:cNvPr>
          <p:cNvSpPr txBox="1"/>
          <p:nvPr/>
        </p:nvSpPr>
        <p:spPr>
          <a:xfrm>
            <a:off x="1422400" y="1798320"/>
            <a:ext cx="962501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0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Exploration des Fonctionnalités</a:t>
            </a:r>
          </a:p>
          <a:p>
            <a:pPr algn="ctr"/>
            <a:r>
              <a:rPr lang="fr-FR" sz="3200" b="0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Découvrons l'interface web en direct : le filtrage réactif des compétences des talents, le formulaire de contact interactif et la fluidité globale de l'expérience utilisateur</a:t>
            </a:r>
            <a:r>
              <a:rPr lang="fr-FR" b="0" i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pPr algn="ctr"/>
            <a:endParaRPr lang="fr-FR" dirty="0">
              <a:solidFill>
                <a:srgbClr val="475569"/>
              </a:solidFill>
              <a:latin typeface="Lato" panose="020F0502020204030203" pitchFamily="34" charset="0"/>
            </a:endParaRPr>
          </a:p>
          <a:p>
            <a:pPr algn="ctr"/>
            <a:endParaRPr lang="fr-FR" b="0" i="0" dirty="0">
              <a:solidFill>
                <a:srgbClr val="475569"/>
              </a:solidFill>
              <a:effectLst/>
              <a:latin typeface="Lato" panose="020F0502020204030203" pitchFamily="34" charset="0"/>
            </a:endParaRPr>
          </a:p>
          <a:p>
            <a:pPr algn="ctr"/>
            <a:endParaRPr lang="fr-FR" dirty="0">
              <a:solidFill>
                <a:srgbClr val="475569"/>
              </a:solidFill>
              <a:latin typeface="Lato" panose="020F0502020204030203" pitchFamily="34" charset="0"/>
            </a:endParaRPr>
          </a:p>
          <a:p>
            <a:pPr algn="ctr"/>
            <a:endParaRPr lang="fr-FR" b="0" i="0" dirty="0">
              <a:solidFill>
                <a:srgbClr val="475569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6" name="Organigramme : Terminateur 5">
            <a:hlinkClick r:id="rId2"/>
            <a:extLst>
              <a:ext uri="{FF2B5EF4-FFF2-40B4-BE49-F238E27FC236}">
                <a16:creationId xmlns:a16="http://schemas.microsoft.com/office/drawing/2014/main" id="{30958EB7-2C32-4444-A9D1-D0AFEB3547EA}"/>
              </a:ext>
            </a:extLst>
          </p:cNvPr>
          <p:cNvSpPr/>
          <p:nvPr/>
        </p:nvSpPr>
        <p:spPr>
          <a:xfrm>
            <a:off x="3915092" y="4760913"/>
            <a:ext cx="4111308" cy="695007"/>
          </a:xfrm>
          <a:prstGeom prst="flowChartTerminator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Démonstration live du site</a:t>
            </a:r>
          </a:p>
        </p:txBody>
      </p:sp>
    </p:spTree>
    <p:extLst>
      <p:ext uri="{BB962C8B-B14F-4D97-AF65-F5344CB8AC3E}">
        <p14:creationId xmlns:p14="http://schemas.microsoft.com/office/powerpoint/2010/main" val="254748197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E672BA-6BDF-4EE8-AC3F-24032E5C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Conclusion &amp; Perspectives</a:t>
            </a:r>
            <a:br>
              <a:rPr lang="fr-FR" b="1" i="0" cap="all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AC1ED19-F1FA-4A4F-992C-E2DF0FD946E2}"/>
              </a:ext>
            </a:extLst>
          </p:cNvPr>
          <p:cNvSpPr txBox="1"/>
          <p:nvPr/>
        </p:nvSpPr>
        <p:spPr>
          <a:xfrm>
            <a:off x="1452880" y="1910080"/>
            <a:ext cx="971296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0" dirty="0">
                <a:solidFill>
                  <a:srgbClr val="2563EB"/>
                </a:solidFill>
                <a:effectLst/>
                <a:latin typeface="Poppins" panose="00000500000000000000" pitchFamily="2" charset="0"/>
              </a:rPr>
              <a:t>Merci pour votre attention !</a:t>
            </a:r>
          </a:p>
          <a:p>
            <a:pPr algn="ctr"/>
            <a:r>
              <a:rPr lang="fr-FR" sz="2400" b="0" i="0" dirty="0" err="1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AfriTalent</a:t>
            </a:r>
            <a:r>
              <a:rPr lang="fr-FR" sz="2400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 : le point de départ d'une grande communauté de compétences africaines.</a:t>
            </a:r>
          </a:p>
          <a:p>
            <a:pPr algn="ctr"/>
            <a:endParaRPr lang="fr-FR" sz="2400" b="0" i="0" dirty="0">
              <a:solidFill>
                <a:srgbClr val="64748B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fr-FR" sz="2400" b="1" i="0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01. Backend &amp; Base de données</a:t>
            </a:r>
          </a:p>
          <a:p>
            <a:pPr algn="l"/>
            <a:r>
              <a:rPr lang="fr-FR" sz="2400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Migration future vers une architecture SQL/NoSQL pour ajouter dynamiquement de nouveaux profils en ligne.</a:t>
            </a:r>
          </a:p>
          <a:p>
            <a:pPr algn="l"/>
            <a:r>
              <a:rPr lang="fr-FR" sz="2400" b="1" i="0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02. Espace Candidat </a:t>
            </a:r>
            <a:r>
              <a:rPr lang="fr-FR" sz="2400" b="1" i="0" dirty="0" err="1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Securisé</a:t>
            </a:r>
            <a:endParaRPr lang="fr-FR" sz="2400" b="1" i="0" dirty="0">
              <a:solidFill>
                <a:srgbClr val="0F172A"/>
              </a:solidFill>
              <a:effectLst/>
              <a:latin typeface="Poppins" panose="00000500000000000000" pitchFamily="2" charset="0"/>
            </a:endParaRPr>
          </a:p>
          <a:p>
            <a:pPr algn="l"/>
            <a:r>
              <a:rPr lang="fr-FR" sz="2400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Création d'un espace de connexion pour permettre aux talents d'éditer eux-mêmes leur fiche profil.</a:t>
            </a:r>
          </a:p>
          <a:p>
            <a:pPr algn="l"/>
            <a:r>
              <a:rPr lang="fr-FR" sz="2400" b="1" i="0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03. Filtres Avancés &amp; Pays</a:t>
            </a:r>
          </a:p>
          <a:p>
            <a:pPr algn="l"/>
            <a:r>
              <a:rPr lang="fr-FR" sz="2400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Ajout de critères géolocalisés pour affiner les recherches selon la région ou le fuseau horaire.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49071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{38FACC75-736B-4449-8072-94998580E14E}TF6d5feb1e-e145-43f1-b745-cb4b54c5ee97d1ca3ce8-604da7307be5</Template>
  <TotalTime>393</TotalTime>
  <Words>1138</Words>
  <Application>Microsoft Office PowerPoint</Application>
  <PresentationFormat>Grand écran</PresentationFormat>
  <Paragraphs>122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Arial</vt:lpstr>
      <vt:lpstr>Arial Unicode MS</vt:lpstr>
      <vt:lpstr>Consolas</vt:lpstr>
      <vt:lpstr>Fira Code</vt:lpstr>
      <vt:lpstr>Lato</vt:lpstr>
      <vt:lpstr>Poppins</vt:lpstr>
      <vt:lpstr>Tw Cen MT</vt:lpstr>
      <vt:lpstr>Circuit</vt:lpstr>
      <vt:lpstr>AfriTalent </vt:lpstr>
      <vt:lpstr>Plan de Présentation </vt:lpstr>
      <vt:lpstr>Présentation du Projet </vt:lpstr>
      <vt:lpstr>Identité Visuelle : Palette </vt:lpstr>
      <vt:lpstr>Typographies &amp; Inspirations </vt:lpstr>
      <vt:lpstr>Présentation PowerPoint</vt:lpstr>
      <vt:lpstr>Présentation PowerPoint</vt:lpstr>
      <vt:lpstr>Présentation PowerPoint</vt:lpstr>
      <vt:lpstr>Présentation PowerPoint</vt:lpstr>
      <vt:lpstr>Versionnement &amp; Hébergement </vt:lpstr>
      <vt:lpstr>Défis Techniques Résolus </vt:lpstr>
      <vt:lpstr>Ressources &amp; Documentation </vt:lpstr>
      <vt:lpstr>Démonstration du Site </vt:lpstr>
      <vt:lpstr>Conclusion &amp; Perspectives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creator>khady mbaye</dc:creator>
  <cp:lastModifiedBy>khady mbaye</cp:lastModifiedBy>
  <cp:revision>2</cp:revision>
  <dcterms:created xsi:type="dcterms:W3CDTF">2026-06-14T12:07:13Z</dcterms:created>
  <dcterms:modified xsi:type="dcterms:W3CDTF">2026-06-14T18:40:51Z</dcterms:modified>
</cp:coreProperties>
</file>